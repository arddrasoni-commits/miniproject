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DB954">
              <a:alpha val="12000"/>
            </a:srgbClr>
          </a:solidFill>
          <a:ln w="6350">
            <a:solidFill>
              <a:srgbClr val="1DB95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7B2FBE">
              <a:alpha val="10000"/>
            </a:srgbClr>
          </a:solidFill>
          <a:ln w="6350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28600"/>
            <a:ext cx="54864" cy="54864"/>
          </a:xfrm>
          <a:prstGeom prst="ellipse">
            <a:avLst/>
          </a:prstGeom>
          <a:solidFill>
            <a:srgbClr val="1DB95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71600"/>
            <a:ext cx="164592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B954"/>
                </a:solidFill>
              </a:rPr>
              <a:t>🎵  SPOTIFY MUSIC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using Python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0A0B0"/>
                </a:solidFill>
              </a:rPr>
              <a:t>Uncovering What Makes a Song a Hit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920240" cy="822960"/>
          </a:xfrm>
          <a:prstGeom prst="rect">
            <a:avLst/>
          </a:prstGeom>
          <a:solidFill>
            <a:srgbClr val="1616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4290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DB954"/>
                </a:solidFill>
              </a:rPr>
              <a:t>COURSE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3630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EDA using Python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3383280"/>
            <a:ext cx="1920240" cy="822960"/>
          </a:xfrm>
          <a:prstGeom prst="rect">
            <a:avLst/>
          </a:prstGeom>
          <a:solidFill>
            <a:srgbClr val="1616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34290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DB954"/>
                </a:solidFill>
              </a:rPr>
              <a:t>DEPT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560320" y="3630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E&amp;TC Engineering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383280"/>
            <a:ext cx="1920240" cy="822960"/>
          </a:xfrm>
          <a:prstGeom prst="rect">
            <a:avLst/>
          </a:prstGeom>
          <a:solidFill>
            <a:srgbClr val="1616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4290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DB954"/>
                </a:solidFill>
              </a:rPr>
              <a:t>BATCH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63440" y="3630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2025 – 29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66560" y="3383280"/>
            <a:ext cx="1920240" cy="822960"/>
          </a:xfrm>
          <a:prstGeom prst="rect">
            <a:avLst/>
          </a:prstGeom>
          <a:solidFill>
            <a:srgbClr val="1616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34290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DB954"/>
                </a:solidFill>
              </a:rPr>
              <a:t>DATASET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766560" y="3630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Spotify Tracks (Kaggle)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Department of Electronics &amp; Telecommunication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DB954"/>
                </a:solidFill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06040" cy="1280160"/>
          </a:xfrm>
          <a:prstGeom prst="rect">
            <a:avLst/>
          </a:prstGeom>
          <a:solidFill>
            <a:srgbClr val="141425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2606040" cy="292608"/>
          </a:xfrm>
          <a:prstGeom prst="rect">
            <a:avLst/>
          </a:prstGeom>
          <a:solidFill>
            <a:srgbClr val="1DB95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939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Objective, dataset overview and justification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1280160"/>
          </a:xfrm>
          <a:prstGeom prst="rect">
            <a:avLst/>
          </a:prstGeom>
          <a:solidFill>
            <a:srgbClr val="141425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606040" cy="292608"/>
          </a:xfrm>
          <a:prstGeom prst="rect">
            <a:avLst/>
          </a:prstGeom>
          <a:solidFill>
            <a:srgbClr val="7B2FB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7465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Cleaning &amp; EDA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0939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Preprocessing, visualizations and trends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1280160"/>
          </a:xfrm>
          <a:prstGeom prst="rect">
            <a:avLst/>
          </a:prstGeom>
          <a:solidFill>
            <a:srgbClr val="141425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417320"/>
            <a:ext cx="2606040" cy="292608"/>
          </a:xfrm>
          <a:prstGeom prst="rect">
            <a:avLst/>
          </a:prstGeom>
          <a:solidFill>
            <a:srgbClr val="0ACDC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7465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Innovative Techniques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0939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Hit classification, mood tagging, feature engineering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880360"/>
            <a:ext cx="2606040" cy="1280160"/>
          </a:xfrm>
          <a:prstGeom prst="rect">
            <a:avLst/>
          </a:prstGeom>
          <a:solidFill>
            <a:srgbClr val="141425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880360"/>
            <a:ext cx="2606040" cy="292608"/>
          </a:xfrm>
          <a:prstGeom prst="rect">
            <a:avLst/>
          </a:prstGeom>
          <a:solidFill>
            <a:srgbClr val="F5C5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803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20954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Experiments &amp; Models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5570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Linear Regression and K-Means Clustering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06040" cy="1280160"/>
          </a:xfrm>
          <a:prstGeom prst="rect">
            <a:avLst/>
          </a:prstGeom>
          <a:solidFill>
            <a:srgbClr val="141425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2606040" cy="292608"/>
          </a:xfrm>
          <a:prstGeom prst="rect">
            <a:avLst/>
          </a:prstGeom>
          <a:solidFill>
            <a:srgbClr val="E0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8803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20954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5570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Findings, conclusions and takeaways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C1A10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B954"/>
                </a:solidFill>
              </a:rPr>
              <a:t>01  / 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we solving?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101020"/>
          </a:solidFill>
          <a:ln w="254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🎯  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0E0"/>
                </a:solidFill>
              </a:rPr>
              <a:t>Analyze Spotify music data to identify patterns and audio features that influence song popularity, and derive actionable insights into what makes a track a hit.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1920240" cy="1325880"/>
          </a:xfrm>
          <a:prstGeom prst="rect">
            <a:avLst/>
          </a:prstGeom>
          <a:solidFill>
            <a:srgbClr val="0E152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DB954"/>
                </a:solidFill>
              </a:rPr>
              <a:t>Dataset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Spotify Tracks (Kaggle)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514600"/>
            <a:ext cx="1920240" cy="1325880"/>
          </a:xfrm>
          <a:prstGeom prst="rect">
            <a:avLst/>
          </a:prstGeom>
          <a:solidFill>
            <a:srgbClr val="0E152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DB954"/>
                </a:solidFill>
              </a:rPr>
              <a:t>Records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~114,000 tracks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14600"/>
            <a:ext cx="1920240" cy="1325880"/>
          </a:xfrm>
          <a:prstGeom prst="rect">
            <a:avLst/>
          </a:prstGeom>
          <a:solidFill>
            <a:srgbClr val="0E152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DB954"/>
                </a:solidFill>
              </a:rPr>
              <a:t>Features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21 audio + metadata columns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514600"/>
            <a:ext cx="1920240" cy="1325880"/>
          </a:xfrm>
          <a:prstGeom prst="rect">
            <a:avLst/>
          </a:prstGeom>
          <a:solidFill>
            <a:srgbClr val="0E152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DB954"/>
                </a:solidFill>
              </a:rPr>
              <a:t>Source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0" y="3273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Maharshi Pandya — Kaggle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Key Features: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danceability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536192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energy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15184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loudness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94176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4176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tempo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73168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valence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acousticness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31152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speechiness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010144" y="4315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0144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D760"/>
                </a:solidFill>
              </a:rPr>
              <a:t>popularity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30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B954"/>
                </a:solidFill>
              </a:rPr>
              <a:t>02  /  DATA CLEANING &amp;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Dataset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005840"/>
          </a:xfrm>
          <a:prstGeom prst="rect">
            <a:avLst/>
          </a:prstGeom>
          <a:solidFill>
            <a:srgbClr val="100D18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4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Read CSV with 114K rows and 21 columns using pandas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1005840"/>
          </a:xfrm>
          <a:prstGeom prst="rect">
            <a:avLst/>
          </a:prstGeom>
          <a:solidFill>
            <a:srgbClr val="100D18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0020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4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Handle Null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810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Identified and dropped rows with missing values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160520" cy="1005840"/>
          </a:xfrm>
          <a:prstGeom prst="rect">
            <a:avLst/>
          </a:prstGeom>
          <a:solidFill>
            <a:srgbClr val="100D18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4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Eliminated duplicate song entries from the dataset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4160520" cy="1005840"/>
          </a:xfrm>
          <a:prstGeom prst="rect">
            <a:avLst/>
          </a:prstGeom>
          <a:solidFill>
            <a:srgbClr val="100D18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78892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4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6517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 Data 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9992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Converted duration_ms → duration_min for readability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4160520" cy="1005840"/>
          </a:xfrm>
          <a:prstGeom prst="rect">
            <a:avLst/>
          </a:prstGeom>
          <a:solidFill>
            <a:srgbClr val="100D18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97764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4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 Outliers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1879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Removed tracks shorter than 1 min or longer than 10 min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160520" cy="1005840"/>
          </a:xfrm>
          <a:prstGeom prst="rect">
            <a:avLst/>
          </a:prstGeom>
          <a:solidFill>
            <a:srgbClr val="100D18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97764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4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Verify Clean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41879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Used df.describe() to confirm valid ranges and stats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B954"/>
                </a:solidFill>
              </a:rPr>
              <a:t>02  /  EXPLORATORY DATA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Visualizations &amp; Findings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600200"/>
          </a:xfrm>
          <a:prstGeom prst="rect">
            <a:avLst/>
          </a:prstGeom>
          <a:solidFill>
            <a:srgbClr val="0F0F1E"/>
          </a:solidFill>
          <a:ln w="1905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256032"/>
          </a:xfrm>
          <a:prstGeom prst="rect">
            <a:avLst/>
          </a:prstGeom>
          <a:solidFill>
            <a:srgbClr val="1DB954">
              <a:alpha val="85000"/>
            </a:srgbClr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 Popularity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Right-skewed histogram — majority of songs score below 40. Very few tracks achieve true hit status (70+).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188720"/>
            <a:ext cx="2651760" cy="1600200"/>
          </a:xfrm>
          <a:prstGeom prst="rect">
            <a:avLst/>
          </a:prstGeom>
          <a:solidFill>
            <a:srgbClr val="0F0F1E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188720"/>
            <a:ext cx="2651760" cy="256032"/>
          </a:xfrm>
          <a:prstGeom prst="rect">
            <a:avLst/>
          </a:prstGeom>
          <a:solidFill>
            <a:srgbClr val="7B2FBE">
              <a:alpha val="8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2070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🎸  Top Genres by Popularity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15361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Pop, latin, and r&amp;b genres consistently score the highest average popularity across ~114K tracks.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1188720"/>
            <a:ext cx="2651760" cy="1600200"/>
          </a:xfrm>
          <a:prstGeom prst="rect">
            <a:avLst/>
          </a:prstGeom>
          <a:solidFill>
            <a:srgbClr val="0F0F1E"/>
          </a:solidFill>
          <a:ln w="19050">
            <a:solidFill>
              <a:srgbClr val="0ACDC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1188720"/>
            <a:ext cx="2651760" cy="256032"/>
          </a:xfrm>
          <a:prstGeom prst="rect">
            <a:avLst/>
          </a:prstGeom>
          <a:solidFill>
            <a:srgbClr val="0ACDCD">
              <a:alpha val="85000"/>
            </a:srgbClr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2070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🔥  Correlation Heatmap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17336" y="15361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Energy ↔ Loudness: strong positive correlation. Acousticness ↔ Energy: strong negative correlation.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51760" cy="1600200"/>
          </a:xfrm>
          <a:prstGeom prst="rect">
            <a:avLst/>
          </a:prstGeom>
          <a:solidFill>
            <a:srgbClr val="0F0F1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2651760" cy="256032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358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⚡  Energy vs Loudness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3649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Scatter plot reveals louder, high-energy songs tend to be more popular — especially in electronic genres.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3017520"/>
            <a:ext cx="2651760" cy="1600200"/>
          </a:xfrm>
          <a:prstGeom prst="rect">
            <a:avLst/>
          </a:prstGeom>
          <a:solidFill>
            <a:srgbClr val="0F0F1E"/>
          </a:solidFill>
          <a:ln w="19050">
            <a:solidFill>
              <a:srgbClr val="E052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3017520"/>
            <a:ext cx="2651760" cy="256032"/>
          </a:xfrm>
          <a:prstGeom prst="rect">
            <a:avLst/>
          </a:prstGeom>
          <a:solidFill>
            <a:srgbClr val="E05252">
              <a:alpha val="8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0358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💃  Danceability vs Valence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4408" y="33649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Happy, danceable songs cluster in the top-right. Popular songs span the full range of moods.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3017520"/>
            <a:ext cx="2651760" cy="1600200"/>
          </a:xfrm>
          <a:prstGeom prst="rect">
            <a:avLst/>
          </a:prstGeom>
          <a:solidFill>
            <a:srgbClr val="0F0F1E"/>
          </a:solidFill>
          <a:ln w="19050">
            <a:solidFill>
              <a:srgbClr val="5B8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3017520"/>
            <a:ext cx="2651760" cy="256032"/>
          </a:xfrm>
          <a:prstGeom prst="rect">
            <a:avLst/>
          </a:prstGeom>
          <a:solidFill>
            <a:srgbClr val="5B8CFF">
              <a:alpha val="85000"/>
            </a:srgbClr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30358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🔞  Explicit vs Non-Explicit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17336" y="33649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Box plot comparison — explicit songs show a slightly higher median popularity score.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515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B954"/>
                </a:solidFill>
              </a:rPr>
              <a:t>03  /  INNOVATIVE TECHNIQUES &amp; 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Beyond Standard EDA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931920" cy="1828800"/>
          </a:xfrm>
          <a:prstGeom prst="rect">
            <a:avLst/>
          </a:prstGeom>
          <a:solidFill>
            <a:srgbClr val="0C1A10"/>
          </a:solidFill>
          <a:ln w="254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</a:rPr>
              <a:t>🏆  Hit Classifier Function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Custom Python function that tags every song: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566160" cy="274320"/>
          </a:xfrm>
          <a:prstGeom prst="rect">
            <a:avLst/>
          </a:prstGeom>
          <a:solidFill>
            <a:srgbClr val="0D1A1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🥇  HIT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Popularity ≥ 70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3566160" cy="274320"/>
          </a:xfrm>
          <a:prstGeom prst="rect">
            <a:avLst/>
          </a:prstGeom>
          <a:solidFill>
            <a:srgbClr val="0D1A10"/>
          </a:solidFill>
          <a:ln w="12700">
            <a:solidFill>
              <a:srgbClr val="A0A0C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C0"/>
                </a:solidFill>
              </a:rPr>
              <a:t>🥈  MID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Popularity 40–69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3566160" cy="274320"/>
          </a:xfrm>
          <a:prstGeom prst="rect">
            <a:avLst/>
          </a:prstGeom>
          <a:solidFill>
            <a:srgbClr val="0D1A10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</a:rPr>
              <a:t>🥉  FLOP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Popularity &lt; 40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127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D760"/>
                </a:solidFill>
              </a:rPr>
              <a:t>Result: Only ~8% of songs qualify as 'Hits'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280160"/>
            <a:ext cx="4160520" cy="1828800"/>
          </a:xfrm>
          <a:prstGeom prst="rect">
            <a:avLst/>
          </a:prstGeom>
          <a:solidFill>
            <a:srgbClr val="0A100F"/>
          </a:solidFill>
          <a:ln w="25400">
            <a:solidFill>
              <a:srgbClr val="0ACDC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CDCD"/>
                </a:solidFill>
              </a:rPr>
              <a:t>🎭  Mood Tagging 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4-quadrant mood categorization using Valence + Energy: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2057400" cy="438912"/>
          </a:xfrm>
          <a:prstGeom prst="rect">
            <a:avLst/>
          </a:prstGeom>
          <a:solidFill>
            <a:srgbClr val="0D1218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1214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B0"/>
                </a:solidFill>
              </a:rPr>
              <a:t>High V + High 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54880" y="230428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518"/>
                </a:solidFill>
              </a:rPr>
              <a:t>Happy / Energetic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578608"/>
            <a:ext cx="2057400" cy="438912"/>
          </a:xfrm>
          <a:prstGeom prst="rect">
            <a:avLst/>
          </a:prstGeom>
          <a:solidFill>
            <a:srgbClr val="0D1218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59689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B0"/>
                </a:solidFill>
              </a:rPr>
              <a:t>High V + Low 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54880" y="277977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B954"/>
                </a:solidFill>
              </a:rPr>
              <a:t>Happy / Calm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12280" y="2103120"/>
            <a:ext cx="2057400" cy="438912"/>
          </a:xfrm>
          <a:prstGeom prst="rect">
            <a:avLst/>
          </a:prstGeom>
          <a:solidFill>
            <a:srgbClr val="0D1218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21214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B0"/>
                </a:solidFill>
              </a:rPr>
              <a:t>Low V + High 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230428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252"/>
                </a:solidFill>
              </a:rPr>
              <a:t>Sad / Intense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12280" y="2578608"/>
            <a:ext cx="2057400" cy="438912"/>
          </a:xfrm>
          <a:prstGeom prst="rect">
            <a:avLst/>
          </a:prstGeom>
          <a:solidFill>
            <a:srgbClr val="0D1218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03720" y="259689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B0"/>
                </a:solidFill>
              </a:rPr>
              <a:t>Low V + Low 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903720" y="277977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Sad / Calm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246120"/>
            <a:ext cx="8412480" cy="1371600"/>
          </a:xfrm>
          <a:prstGeom prst="rect">
            <a:avLst/>
          </a:prstGeom>
          <a:solidFill>
            <a:srgbClr val="0A0A18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3375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⚙️  Feature Engineering: Energy-to-Acousticness Ratio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Formula: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4592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energy_acoustic_ratio = energy / (acousticness + 0.01)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4023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Insight: Electronic/pop songs have very high ratios. Folk/classical songs have very low ratios. This new feature helps distinguish production style beyond raw energy alone.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00A1A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B954"/>
                </a:solidFill>
              </a:rPr>
              <a:t>04  /  EXPERIMENTS &amp; 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on Music Data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60520" cy="3611880"/>
          </a:xfrm>
          <a:prstGeom prst="rect">
            <a:avLst/>
          </a:prstGeom>
          <a:solidFill>
            <a:srgbClr val="0C0C1C"/>
          </a:solidFill>
          <a:ln w="25400">
            <a:solidFill>
              <a:srgbClr val="0ACDC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CDCD"/>
                </a:solidFill>
              </a:rPr>
              <a:t>📈  Experiment 1: 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Goal: Predict song popularity from audio features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E0"/>
                </a:solidFill>
              </a:rPr>
              <a:t>Input Features: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1428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CDCD"/>
                </a:solidFill>
              </a:rPr>
              <a:t>danceability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90472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1428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CDCD"/>
                </a:solidFill>
              </a:rPr>
              <a:t>energy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78024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1428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8024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CDCD"/>
                </a:solidFill>
              </a:rPr>
              <a:t>loudness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65576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1428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CDCD"/>
                </a:solidFill>
              </a:rPr>
              <a:t>tempo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1428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97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CDCD"/>
                </a:solidFill>
              </a:rPr>
              <a:t>valence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490472" y="26974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1428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0472" y="2697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CDCD"/>
                </a:solidFill>
              </a:rPr>
              <a:t>acousticness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78024" y="26974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1428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2697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CDCD"/>
                </a:solidFill>
              </a:rPr>
              <a:t>speechiness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154680"/>
            <a:ext cx="3703320" cy="822960"/>
          </a:xfrm>
          <a:prstGeom prst="rect">
            <a:avLst/>
          </a:prstGeom>
          <a:solidFill>
            <a:srgbClr val="0A141A"/>
          </a:solidFill>
          <a:ln w="12700">
            <a:solidFill>
              <a:srgbClr val="0ACDC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218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CDCD"/>
                </a:solidFill>
              </a:rPr>
              <a:t>Results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R² Score: ~0.09  |  RMSE: ~21.4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04164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Low R² → Audio features alone don't fully predict popularity. External factors (marketing, artist fame) play a huge role.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280160"/>
            <a:ext cx="4160520" cy="3611880"/>
          </a:xfrm>
          <a:prstGeom prst="rect">
            <a:avLst/>
          </a:prstGeom>
          <a:solidFill>
            <a:srgbClr val="0C0C1C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371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🔵  Experiment 2: K-Means Clustering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Goal: Group songs by audio 'vibe' using k=4 clusters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148840"/>
            <a:ext cx="3749040" cy="594360"/>
          </a:xfrm>
          <a:prstGeom prst="rect">
            <a:avLst/>
          </a:prstGeom>
          <a:solidFill>
            <a:srgbClr val="0A0A1C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221992"/>
            <a:ext cx="292608" cy="29260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21762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Cluster 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414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High energy, low acousticness — Electronic / Pop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3749040" cy="594360"/>
          </a:xfrm>
          <a:prstGeom prst="rect">
            <a:avLst/>
          </a:prstGeom>
          <a:solidFill>
            <a:srgbClr val="0A0A1C"/>
          </a:solidFill>
          <a:ln w="12700">
            <a:solidFill>
              <a:srgbClr val="0ACDC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953512"/>
            <a:ext cx="292608" cy="292608"/>
          </a:xfrm>
          <a:prstGeom prst="ellipse">
            <a:avLst/>
          </a:prstGeom>
          <a:solidFill>
            <a:srgbClr val="0ACDCD"/>
          </a:solidFill>
          <a:ln w="12700">
            <a:solidFill>
              <a:srgbClr val="0ACDC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CDCD"/>
                </a:solidFill>
              </a:rPr>
              <a:t>Cluster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145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Low energy, high acousticness — Folk / Acoustic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611880"/>
            <a:ext cx="3749040" cy="594360"/>
          </a:xfrm>
          <a:prstGeom prst="rect">
            <a:avLst/>
          </a:prstGeom>
          <a:solidFill>
            <a:srgbClr val="0A0A1C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37760" y="3685032"/>
            <a:ext cx="292608" cy="29260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639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</a:rPr>
              <a:t>Cluster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3877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High danceability, mid energy — Hip-Hop / R&amp;B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4343400"/>
            <a:ext cx="3749040" cy="594360"/>
          </a:xfrm>
          <a:prstGeom prst="rect">
            <a:avLst/>
          </a:prstGeom>
          <a:solidFill>
            <a:srgbClr val="0A0A1C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37760" y="4416552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4370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Cluster 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46085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Balanced features — Pop ballads / Mainstream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0A0B0"/>
                </a:solidFill>
              </a:rPr>
              <a:t>Elbow Method used to determine optimal k=4. Features scaled with StandardScaler.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0150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B954"/>
                </a:solidFill>
              </a:rPr>
              <a:t>05  /  KEY INSIGHTS &amp; CONCLUSIONS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713232"/>
          </a:xfrm>
          <a:prstGeom prst="rect">
            <a:avLst/>
          </a:prstGeom>
          <a:solidFill>
            <a:srgbClr val="0D121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0"/>
                </a:solidFill>
              </a:rPr>
              <a:t>Most songs score below 40 in popularity — true hits are rare (only ~8% score 70+)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160520" cy="713232"/>
          </a:xfrm>
          <a:prstGeom prst="rect">
            <a:avLst/>
          </a:prstGeom>
          <a:solidFill>
            <a:srgbClr val="0D121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0"/>
                </a:solidFill>
              </a:rPr>
              <a:t>Pop, Latin &amp; R&amp;B genres consistently dominate average popularity rankings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063240"/>
            <a:ext cx="4160520" cy="713232"/>
          </a:xfrm>
          <a:prstGeom prst="rect">
            <a:avLst/>
          </a:prstGeom>
          <a:solidFill>
            <a:srgbClr val="0D121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0"/>
                </a:solidFill>
              </a:rPr>
              <a:t>Energy and Loudness are strongly correlated — louder songs feel more energetic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931920"/>
            <a:ext cx="4160520" cy="713232"/>
          </a:xfrm>
          <a:prstGeom prst="rect">
            <a:avLst/>
          </a:prstGeom>
          <a:solidFill>
            <a:srgbClr val="0D121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0"/>
                </a:solidFill>
              </a:rPr>
              <a:t>Explicit songs have a slightly higher median popularity than non-explicit ones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325880"/>
            <a:ext cx="4160520" cy="713232"/>
          </a:xfrm>
          <a:prstGeom prst="rect">
            <a:avLst/>
          </a:prstGeom>
          <a:solidFill>
            <a:srgbClr val="0D121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141732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0"/>
                </a:solidFill>
              </a:rPr>
              <a:t>Happy/Energetic is the most common mood — audiences prefer upbeat, danceable music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194560"/>
            <a:ext cx="4160520" cy="713232"/>
          </a:xfrm>
          <a:prstGeom prst="rect">
            <a:avLst/>
          </a:prstGeom>
          <a:solidFill>
            <a:srgbClr val="0D121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28600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0"/>
                </a:solidFill>
              </a:rPr>
              <a:t>Linear Regression yields low R² — popularity is influenced heavily by non-audio factors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063240"/>
            <a:ext cx="4160520" cy="713232"/>
          </a:xfrm>
          <a:prstGeom prst="rect">
            <a:avLst/>
          </a:prstGeom>
          <a:solidFill>
            <a:srgbClr val="0D1210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315468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E0"/>
                </a:solidFill>
              </a:rPr>
              <a:t>K-Means clustering reveals 4 distinct audio profiles or 'vibes' in the dataset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6400800" cy="6400800"/>
          </a:xfrm>
          <a:prstGeom prst="ellipse">
            <a:avLst/>
          </a:prstGeom>
          <a:solidFill>
            <a:srgbClr val="1DB954">
              <a:alpha val="7000"/>
            </a:srgbClr>
          </a:solidFill>
          <a:ln w="6350">
            <a:solidFill>
              <a:srgbClr val="1DB95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7B2FBE">
              <a:alpha val="8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1143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0B0"/>
                </a:solidFill>
              </a:rPr>
              <a:t>Spotify Music Analysis — EDA using 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783080" cy="1005840"/>
          </a:xfrm>
          <a:prstGeom prst="rect">
            <a:avLst/>
          </a:prstGeom>
          <a:solidFill>
            <a:srgbClr val="1414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114K Spotify Tracks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Dataset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3108960"/>
            <a:ext cx="1783080" cy="1005840"/>
          </a:xfrm>
          <a:prstGeom prst="rect">
            <a:avLst/>
          </a:prstGeom>
          <a:solidFill>
            <a:srgbClr val="1414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Charts &amp; Plots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Visualizations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1783080" cy="1005840"/>
          </a:xfrm>
          <a:prstGeom prst="rect">
            <a:avLst/>
          </a:prstGeom>
          <a:solidFill>
            <a:srgbClr val="1414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+ Clustering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Models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3108960"/>
            <a:ext cx="1783080" cy="1005840"/>
          </a:xfrm>
          <a:prstGeom prst="rect">
            <a:avLst/>
          </a:prstGeom>
          <a:solidFill>
            <a:srgbClr val="141425"/>
          </a:solidFill>
          <a:ln w="12700">
            <a:solidFill>
              <a:srgbClr val="1DB95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Key Findings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Insights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0B0"/>
                </a:solidFill>
              </a:rPr>
              <a:t>Department of Electronics &amp; Telecommunication Engineering  |  Batch 2025–29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Music Analysis — EDA using Python</dc:title>
  <dc:subject>PptxGenJS Presentation</dc:subject>
  <dc:creator>PptxGenJS</dc:creator>
  <cp:lastModifiedBy>PptxGenJS</cp:lastModifiedBy>
  <cp:revision>1</cp:revision>
  <dcterms:created xsi:type="dcterms:W3CDTF">2026-04-16T11:47:51Z</dcterms:created>
  <dcterms:modified xsi:type="dcterms:W3CDTF">2026-04-16T11:47:51Z</dcterms:modified>
</cp:coreProperties>
</file>